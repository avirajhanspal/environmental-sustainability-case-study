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28059307b54e08" /><Relationship Type="http://schemas.openxmlformats.org/officeDocument/2006/relationships/extended-properties" Target="/docProps/app.xml" Id="R23e6d95d46f2463a" /><Relationship Type="http://schemas.openxmlformats.org/officeDocument/2006/relationships/officeDocument" Target="/ppt/presentation.xml" Id="R1ab98d3253d04d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b3b9801ff8437d"/>
  </p:sldMasterIdLst>
  <p:notesMasterIdLst>
    <p:notesMasterId xmlns:r="http://schemas.openxmlformats.org/officeDocument/2006/relationships" r:id="R5fa8121e65e941a8"/>
  </p:notesMasterIdLst>
  <p:sldIdLst>
    <p:sldId xmlns:r="http://schemas.openxmlformats.org/officeDocument/2006/relationships" id="256" r:id="Rc16eb7ab9a6d44f3"/>
    <p:sldId xmlns:r="http://schemas.openxmlformats.org/officeDocument/2006/relationships" id="257" r:id="R77da8dbb23744258"/>
    <p:sldId xmlns:r="http://schemas.openxmlformats.org/officeDocument/2006/relationships" id="258" r:id="R89c3b4596f9f4fc9"/>
    <p:sldId xmlns:r="http://schemas.openxmlformats.org/officeDocument/2006/relationships" id="259" r:id="R90ec8f6868c940bf"/>
    <p:sldId xmlns:r="http://schemas.openxmlformats.org/officeDocument/2006/relationships" id="260" r:id="R633e79ae23494b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e9866ed9542e1" /><Relationship Type="http://schemas.openxmlformats.org/officeDocument/2006/relationships/slideMaster" Target="/ppt/slideMasters/slideMaster1.xml" Id="R78b3b9801ff8437d" /><Relationship Type="http://schemas.openxmlformats.org/officeDocument/2006/relationships/notesMaster" Target="/ppt/notesMasters/notesMaster1.xml" Id="R5fa8121e65e941a8" /><Relationship Type="http://schemas.openxmlformats.org/officeDocument/2006/relationships/presProps" Target="/ppt/presProps.xml" Id="R8602f35004bd4679" /><Relationship Type="http://schemas.openxmlformats.org/officeDocument/2006/relationships/tableStyles" Target="/ppt/tableStyles.xml" Id="R435e6de09e454353" /><Relationship Type="http://schemas.openxmlformats.org/officeDocument/2006/relationships/slide" Target="/ppt/slides/slide1.xml" Id="Rc16eb7ab9a6d44f3" /><Relationship Type="http://schemas.openxmlformats.org/officeDocument/2006/relationships/slide" Target="/ppt/slides/slide2.xml" Id="R77da8dbb23744258" /><Relationship Type="http://schemas.openxmlformats.org/officeDocument/2006/relationships/slide" Target="/ppt/slides/slide3.xml" Id="R89c3b4596f9f4fc9" /><Relationship Type="http://schemas.openxmlformats.org/officeDocument/2006/relationships/slide" Target="/ppt/slides/slide4.xml" Id="R90ec8f6868c940bf" /><Relationship Type="http://schemas.openxmlformats.org/officeDocument/2006/relationships/slide" Target="/ppt/slides/slide5.xml" Id="R633e79ae23494b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a3bf65c12e4e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f8fc35b274400c" /><Relationship Type="http://schemas.openxmlformats.org/officeDocument/2006/relationships/notesMaster" Target="/ppt/notesMasters/notesMaster1.xml" Id="R394b3269e43542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9bed003c6c43d8" /><Relationship Type="http://schemas.openxmlformats.org/officeDocument/2006/relationships/notesMaster" Target="/ppt/notesMasters/notesMaster1.xml" Id="Rda9282535fc449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6690c35a04298" /><Relationship Type="http://schemas.openxmlformats.org/officeDocument/2006/relationships/notesMaster" Target="/ppt/notesMasters/notesMaster1.xml" Id="R7adc10823b8c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91cdceb6b94160" /><Relationship Type="http://schemas.openxmlformats.org/officeDocument/2006/relationships/notesMaster" Target="/ppt/notesMasters/notesMaster1.xml" Id="R366b8dab5374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42a07f710b40a4" /><Relationship Type="http://schemas.openxmlformats.org/officeDocument/2006/relationships/notesMaster" Target="/ppt/notesMasters/notesMaster1.xml" Id="R289ae09e80ec41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brief supplied by user. ISO 14001:2026: https://www.iso.org/standard/14001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GHG Protocol Scope 2 Guidance: https://ghgprotocol.org/sites/default/files/GHG%20Protocol%20Scope%202%20Guidance.pdf; GRI emissions: https://globalreporting.org/publications/documents/english/gri-305-emissions-2016/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Defects are listed in the user-supplied assessment brief. The notebook demonstrates the checks on synthetic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ISO 14001:2026 published standard: https://www.iso.org/standard/14001. This is an evidence request matrix, not an assertion of nonconformity. Clause wording should be verified against the controlled licensed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GRI standards library: https://www.globalreporting.org/how-to-use-the-gri-standards/gri-standards-english-language/ . GRI 102 Climate Change 2025 and GRI 103 Energy 2025 apply for reporting from 1 January 2027: https://www.globalreporting.org/standards/standards-development/topic-standard-for-climate-change-and-energy/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7d5cfa7be42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eeb713dfe48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c0aa08f4449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70661110540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b1c1aa93e49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bc1fac9fc40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BDCC21-E179-48FB-99B8-EE3701BAC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87C87B-90D0-464C-A28D-A918B55CEF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29663D-BFCF-4F4D-9F8B-0195FFC44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11F28A-751B-4F0C-B677-440964264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6F7F0D-5FC6-44A0-B77E-13BE8B66A5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55AD18-15EB-47D4-8929-896CB8FD22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5D6D50-0DCC-4B83-B42B-9B42196A0F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16E0AA-F815-40E3-AF9C-6F8EA5F592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68262F-D127-4130-B808-280FCC9FE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EC266B-CB94-4620-A654-27D87C028F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a96aaa8bfd4863" /><Relationship Type="http://schemas.openxmlformats.org/officeDocument/2006/relationships/slideLayout" Target="/ppt/slideLayouts/slideLayout1.xml" Id="R16930e28203d4cfc" /><Relationship Type="http://schemas.openxmlformats.org/officeDocument/2006/relationships/slideLayout" Target="/ppt/slideLayouts/slideLayout2.xml" Id="R236a904c9e9c445c" /><Relationship Type="http://schemas.openxmlformats.org/officeDocument/2006/relationships/slideLayout" Target="/ppt/slideLayouts/slideLayout3.xml" Id="R6dfef53cd4504535" /><Relationship Type="http://schemas.openxmlformats.org/officeDocument/2006/relationships/slideLayout" Target="/ppt/slideLayouts/slideLayout4.xml" Id="R0c994fe4e47c46a2" /><Relationship Type="http://schemas.openxmlformats.org/officeDocument/2006/relationships/slideLayout" Target="/ppt/slideLayouts/slideLayout5.xml" Id="R1f14639035ae473d" /><Relationship Type="http://schemas.openxmlformats.org/officeDocument/2006/relationships/slideLayout" Target="/ppt/slideLayouts/slideLayout6.xml" Id="Rbfabc613cff149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930e28203d4cfc"/>
    <p:sldLayoutId xmlns:r="http://schemas.openxmlformats.org/officeDocument/2006/relationships" id="2147483650" r:id="R236a904c9e9c445c"/>
    <p:sldLayoutId xmlns:r="http://schemas.openxmlformats.org/officeDocument/2006/relationships" id="2147483651" r:id="R6dfef53cd4504535"/>
    <p:sldLayoutId xmlns:r="http://schemas.openxmlformats.org/officeDocument/2006/relationships" id="2147483652" r:id="R0c994fe4e47c46a2"/>
    <p:sldLayoutId xmlns:r="http://schemas.openxmlformats.org/officeDocument/2006/relationships" id="2147483653" r:id="R1f14639035ae473d"/>
    <p:sldLayoutId xmlns:r="http://schemas.openxmlformats.org/officeDocument/2006/relationships" id="2147483654" r:id="Rbfabc613cff149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fc443e07494ad2" /><Relationship Type="http://schemas.openxmlformats.org/officeDocument/2006/relationships/notesSlide" Target="/ppt/notesSlides/notesSlide1.xml" Id="R765916514a6446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fbde169cc4a25" /><Relationship Type="http://schemas.openxmlformats.org/officeDocument/2006/relationships/notesSlide" Target="/ppt/notesSlides/notesSlide2.xml" Id="Ref0b156608de44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24ea937db4754" /><Relationship Type="http://schemas.openxmlformats.org/officeDocument/2006/relationships/notesSlide" Target="/ppt/notesSlides/notesSlide3.xml" Id="Rc8cc190d11bf42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c217430e44c5e" /><Relationship Type="http://schemas.openxmlformats.org/officeDocument/2006/relationships/notesSlide" Target="/ppt/notesSlides/notesSlide4.xml" Id="R1b204a74f63d4e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707b7b374846d5" /><Relationship Type="http://schemas.openxmlformats.org/officeDocument/2006/relationships/notesSlide" Target="/ppt/notesSlides/notesSlide5.xml" Id="R0bf83aade19248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4726E-74AD-43B0-BF43-9061E800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FY27 INTERNSHIP ASSESSMENT  /  CASE STUDY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0EB38-7858-4A9C-9DF2-E32FBC96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Audit-ready environmental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32595-EEBB-44EA-A285-BF748A97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Environmental and Sustainability Specialist  •  illustrative candidate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14A0C-6C24-4ECE-8F3B-5EF60A71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1F7C6-46CB-4164-A2A7-627FA90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62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A controlled carbon ledger, a site evidence matrix, and a GRI disclosure 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81F01-2F2D-4B64-B060-4A95D767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52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Decision requested: fund a 30-day evidence sprint before external reporting or certification assessment.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ED36E-BF62-4629-9848-9DB49572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No operational CSV was supplied. All model numbers are synthetic demonstration outputs.</a:t>
            </a:r>
          </a:p>
        </p:txBody>
      </p:sp>
    </p:spTree>
    <p:extLst>
      <p:ext uri="{BB962C8B-B14F-4D97-AF65-F5344CB8AC3E}">
        <p14:creationId xmlns:p14="http://schemas.microsoft.com/office/powerpoint/2010/main" val="774402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41233-E4E4-4121-9564-9BED0EA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FY27 INTERNSHIP ASSESSMENT  /  CASE STUDY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FC885-AFF8-4DF1-806D-B719DDDD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Carbon accounting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5B85D-711B-4029-9124-78B519BF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Environmental and Sustainability Specialist  •  illustrative candidate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E7CB4-8394-4906-82FD-6C924923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1CDEF-2B38-4414-BE81-15422733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Scope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5B361-7BDC-49E3-BACA-B91C67FC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Use reported direct emissions provisionally. Rebuild from fuel and refrigerant evidence when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21637-5EBA-4A84-A247-1209FB8A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Scope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CABE7-5E91-472C-9511-8B986379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Show location and market totals separately. Verify contractual instrument quality before market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C3351-1820-44E7-BD96-895A4E26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Scope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3CA5B-0554-4993-91D9-639B8F8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Model water service and third-party waste as partial categories. Screen the remaining categories.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65A0F-468E-4AAB-8069-676082ED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Reporting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C0F46-C0F5-4163-B625-E03521BB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Each factor needs geography, year, unit, source, version and reviewer approval.</a:t>
            </a:r>
          </a:p>
        </p:txBody>
      </p:sp>
    </p:spTree>
    <p:extLst>
      <p:ext uri="{BB962C8B-B14F-4D97-AF65-F5344CB8AC3E}">
        <p14:creationId xmlns:p14="http://schemas.microsoft.com/office/powerpoint/2010/main" val="1212586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C3094-1AF4-4C48-BA66-0688C889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FY27 INTERNSHIP ASSESSMENT  /  CASE STUDY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4929C-C083-42B8-8363-A5E36B38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Data defects and release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B111A-847C-4AAA-A880-9089D3CE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Environmental and Sustainability Specialist  •  illustrative candidate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F8C46-16AF-4E20-A55D-F2D8AC7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12B74-F545-4350-B30F-B1D80C28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The provided brief names four injected defects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C9D65-7B92-4ACD-904F-3E19FFFD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Site names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C9074-CA65-4B14-B17F-D79AAB4C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Trim whitespace and standardize case; retain original field.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28180-18C9-4A52-B403-FE723817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Recycling above 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2C956-9B21-4FE5-B3CF-935AF11A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62325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Quarantine and request source correction. Never cap silently.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34495-E2D2-45D0-B91B-26188BB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Negative Scope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01033-4A79-49DD-9804-E7C3D24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Quarantine until meter, invoice or calculation is reconciled.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CFCCE-E5C6-4BC3-B018-D5004004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Audit status 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AF806-985F-4379-960C-88ACA23B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48225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Map to controlled statuses and flag unknown values.</a:t>
            </a:r>
          </a:p>
        </p:txBody>
      </p:sp>
    </p:spTree>
    <p:extLst>
      <p:ext uri="{BB962C8B-B14F-4D97-AF65-F5344CB8AC3E}">
        <p14:creationId xmlns:p14="http://schemas.microsoft.com/office/powerpoint/2010/main" val="681754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9E8E9-18AF-493A-8238-C6A9B0F1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FY27 INTERNSHIP ASSESSMENT  /  CASE STUDY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C42A4-D853-4D85-8280-563A74D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ISO 14001:2026 evidence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1F76A-2A5C-4E1D-98D0-E6BA87B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Environmental and Sustainability Specialist  •  illustrative candidate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E0204-9941-48C3-B7B5-BA108153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BC579-4F40-4BE5-B86C-5D72841E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Status: not assessed until site records are inspected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DBA38-08FD-4998-9DA0-02AB62B5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Aspects and impacts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98A2A-9CC2-442B-A2CC-2FA8C63F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Site register, significance method, lifecycle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6EB14-CDBD-4F5D-B6BF-5553EBE7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Compliance obligations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A7D21-D993-49E9-84BE-6A34C52F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528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Jurisdictional legal register and evaluation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ABCDA-BD7E-4DE3-9960-47995B86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Emergency preparedness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A3358-A7A8-44A8-AA78-B604F533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338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Scenario plan, drill record and corrective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AA37-E4F0-4472-A0ED-E91A2F04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Internal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EE95D-8702-4B28-A0B1-AC7E4027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149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Sample tests, findings, owners and management review</a:t>
            </a:r>
          </a:p>
        </p:txBody>
      </p:sp>
    </p:spTree>
    <p:extLst>
      <p:ext uri="{BB962C8B-B14F-4D97-AF65-F5344CB8AC3E}">
        <p14:creationId xmlns:p14="http://schemas.microsoft.com/office/powerpoint/2010/main" val="843935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E4047-7BCB-46E2-8BE4-94982469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FY27 INTERNSHIP ASSESSMENT  /  CASE STUDY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C7298-A283-4ECD-8CCC-E71E360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30-day plan and GRI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71D00-B8F2-4B56-8236-ED1BDB74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46D"/>
                </a:solidFill>
                <a:latin typeface="Helvetica Neue"/>
                <a:ea typeface="Helvetica Neue"/>
                <a:cs typeface="Helvetica Neue"/>
              </a:rPr>
              <a:t>Environmental and Sustainability Specialist  •  illustrative candidate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4F962-5408-47C0-BD9D-AF16E9EB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7B9A0-1D50-4EFB-85B7-90D984A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B033C-61FC-4C91-8FC8-21B0946D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621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Secure actual CSV; agree sites, boundary and evidence owners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FA357-30C0-402A-96B0-486EF08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2B5B9-11BA-41EC-A0B0-12982EA7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31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Clear data exceptions; approve factors and legal/aspect registers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BBD27-F87E-493C-80CB-ABEF278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950CB-7091-4ED1-870E-49F60564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242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Verify electricity claims, water and waste routes; test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6A14A-4F25-4687-A5F4-A33938FA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6D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48766-8A7C-43A6-8BC5-843002DC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052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Internal sample audit; lock ledger; publish GRI content 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92DE9-4D6D-4F0D-A677-E3FF826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23047"/>
                </a:solidFill>
                <a:latin typeface="Helvetica Neue"/>
                <a:ea typeface="Helvetica Neue"/>
                <a:cs typeface="Helvetica Neue"/>
              </a:rPr>
              <a:t>Benchmark disclosure completeness now. Compare performance only after consistent boundaries, denominators and a verified baseline.</a:t>
            </a:r>
          </a:p>
        </p:txBody>
      </p:sp>
    </p:spTree>
    <p:extLst>
      <p:ext uri="{BB962C8B-B14F-4D97-AF65-F5344CB8AC3E}">
        <p14:creationId xmlns:p14="http://schemas.microsoft.com/office/powerpoint/2010/main" val="569957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2026-10-11T13:43:26.8040000Z</dcterms:created>
  <dcterms:modified xsi:type="dcterms:W3CDTF">2026-10-11T13:43:26.8040000Z</dcterms:modified>
</coreProperties>
</file>